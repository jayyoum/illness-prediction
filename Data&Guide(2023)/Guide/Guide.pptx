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"/>
  </p:notesMasterIdLst>
  <p:sldIdLst>
    <p:sldId id="279" r:id="rId2"/>
    <p:sldId id="293" r:id="rId3"/>
    <p:sldId id="292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EDE3"/>
    <a:srgbClr val="FEFFF1"/>
    <a:srgbClr val="FBFFDF"/>
    <a:srgbClr val="ACAF98"/>
    <a:srgbClr val="FCFF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보통 스타일 3 - 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1"/>
  </p:normalViewPr>
  <p:slideViewPr>
    <p:cSldViewPr snapToGrid="0">
      <p:cViewPr varScale="1">
        <p:scale>
          <a:sx n="116" d="100"/>
          <a:sy n="116" d="100"/>
        </p:scale>
        <p:origin x="3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73B232-F7E8-2944-B5CA-59790180251F}" type="datetimeFigureOut">
              <a:rPr kumimoji="1" lang="ko-KR" altLang="en-US" smtClean="0"/>
              <a:t>2025. 4. 10.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8AFA26-88AF-F241-AAD6-4EBDD6CA463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91910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8AFA26-88AF-F241-AAD6-4EBDD6CA4634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93741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C0A8D6C-2166-C593-56DA-F8BC31AF5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F5193-41CD-4063-B0C7-05E32D5C3CCF}" type="datetimeFigureOut">
              <a:rPr lang="ko-KR" altLang="en-US" smtClean="0"/>
              <a:t>2025. 4. 10.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3355A0-B053-055C-A48D-03DCA4984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A9E0C0-C208-C880-12BC-22614B99B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277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C0A8D6C-2166-C593-56DA-F8BC31AF5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F5193-41CD-4063-B0C7-05E32D5C3CCF}" type="datetimeFigureOut">
              <a:rPr lang="ko-KR" altLang="en-US" smtClean="0"/>
              <a:t>2025. 4. 10.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3355A0-B053-055C-A48D-03DCA4984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A9E0C0-C208-C880-12BC-22614B99B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7759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2A1902-5E0F-4C85-6B9B-CFB8C95C2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124FC5-232C-D503-51B2-2388BA704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D67C67-55AD-BA6E-8404-A37284FE84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2F5193-41CD-4063-B0C7-05E32D5C3CCF}" type="datetimeFigureOut">
              <a:rPr lang="ko-KR" altLang="en-US" smtClean="0"/>
              <a:t>2025. 4. 10.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847630-7AE5-2706-2404-F94D6A4CFA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DA98C0-863E-3233-E6CC-C61C5150EE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1A778-E908-4432-BB93-29EAA93A69D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2321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oicd.kr/kcd/kcd.do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DC16E78-8819-8219-C770-75C3BD1E4D45}"/>
              </a:ext>
            </a:extLst>
          </p:cNvPr>
          <p:cNvGrpSpPr/>
          <p:nvPr/>
        </p:nvGrpSpPr>
        <p:grpSpPr>
          <a:xfrm>
            <a:off x="6817895" y="87227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4D379F-0D7A-E10A-C2FD-B3F877B38412}"/>
                </a:ext>
              </a:extLst>
            </p:cNvPr>
            <p:cNvSpPr txBox="1"/>
            <p:nvPr/>
          </p:nvSpPr>
          <p:spPr>
            <a:xfrm>
              <a:off x="6817895" y="310803"/>
              <a:ext cx="1478290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9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 Black"/>
                  <a:ea typeface="+mj-ea"/>
                  <a:cs typeface="+mn-cs"/>
                </a:rPr>
                <a:t>1</a:t>
              </a:r>
              <a:endParaRPr kumimoji="0" lang="ko-KR" altLang="en-US" sz="19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Black"/>
                <a:ea typeface="+mj-ea"/>
                <a:cs typeface="+mn-cs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73F2969-8E1F-0403-B6B6-037C4B0D5DB2}"/>
                </a:ext>
              </a:extLst>
            </p:cNvPr>
            <p:cNvSpPr txBox="1"/>
            <p:nvPr/>
          </p:nvSpPr>
          <p:spPr>
            <a:xfrm>
              <a:off x="6818379" y="2976261"/>
              <a:ext cx="5228996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0" lang="en-US" altLang="ko-KR" sz="4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/>
                  <a:cs typeface="+mn-cs"/>
                </a:rPr>
                <a:t>variable Guide</a:t>
              </a:r>
              <a:br>
                <a:rPr lang="en-US" altLang="ko-KR" sz="4800" b="1" dirty="0">
                  <a:solidFill>
                    <a:prstClr val="white"/>
                  </a:solidFill>
                  <a:latin typeface="Pretendard"/>
                </a:rPr>
              </a:br>
              <a:r>
                <a:rPr lang="en-US" altLang="ko-KR" sz="4800" b="1" dirty="0">
                  <a:solidFill>
                    <a:prstClr val="white"/>
                  </a:solidFill>
                  <a:latin typeface="Pretendard"/>
                </a:rPr>
                <a:t>(e.g. illness code …)</a:t>
              </a:r>
              <a:endParaRPr kumimoji="0" lang="ko-KR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cs typeface="+mn-cs"/>
              </a:endParaRP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9894119-F233-DC33-68F5-7374CF0E569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1021128-BA25-D6FF-656C-87D086ADE451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84164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C62EC-9D1C-0E34-E7D9-26427EBE5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A787A6A1-6A5A-0D66-34AA-89DB1520633E}"/>
              </a:ext>
            </a:extLst>
          </p:cNvPr>
          <p:cNvSpPr/>
          <p:nvPr/>
        </p:nvSpPr>
        <p:spPr>
          <a:xfrm>
            <a:off x="144378" y="795936"/>
            <a:ext cx="11857122" cy="5757071"/>
          </a:xfrm>
          <a:prstGeom prst="roundRect">
            <a:avLst>
              <a:gd name="adj" fmla="val 5393"/>
            </a:avLst>
          </a:prstGeom>
          <a:solidFill>
            <a:srgbClr val="F1ED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A623136-BC56-40FD-C550-62CC1AB8CDE6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CB923EF-3E7B-F60A-9B70-6EC5D8F23C6A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/>
                <a:cs typeface="+mn-cs"/>
              </a:rPr>
              <a:t>Part 1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62A462-521F-2317-A760-53AF1E773961}"/>
              </a:ext>
            </a:extLst>
          </p:cNvPr>
          <p:cNvSpPr txBox="1"/>
          <p:nvPr/>
        </p:nvSpPr>
        <p:spPr>
          <a:xfrm>
            <a:off x="1163051" y="272716"/>
            <a:ext cx="54377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en" altLang="ko-KR" sz="2800" dirty="0"/>
              <a:t>Guide of</a:t>
            </a:r>
            <a:r>
              <a:rPr lang="ko-KR" altLang="en-US" sz="2800" dirty="0"/>
              <a:t> </a:t>
            </a:r>
            <a:r>
              <a:rPr lang="en-US" altLang="ko-KR" sz="2800" dirty="0"/>
              <a:t>C</a:t>
            </a:r>
            <a:r>
              <a:rPr lang="en" altLang="ko-KR" sz="2800" dirty="0" err="1"/>
              <a:t>onsultation</a:t>
            </a:r>
            <a:r>
              <a:rPr lang="en" altLang="ko-KR" sz="2800" dirty="0"/>
              <a:t> Data</a:t>
            </a:r>
            <a:endParaRPr kumimoji="0" lang="ko-KR" altLang="en-US" sz="2800" b="1" i="0" u="none" strike="noStrike" kern="1200" cap="none" spc="-1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8E41A98-BBCC-BEF8-18B5-7065F8BBE596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rgbClr val="FFA5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B0EFDC0E-DF62-806C-E726-81C695D61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6695401"/>
              </p:ext>
            </p:extLst>
          </p:nvPr>
        </p:nvGraphicFramePr>
        <p:xfrm>
          <a:off x="442256" y="1993955"/>
          <a:ext cx="4387470" cy="304800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568711">
                  <a:extLst>
                    <a:ext uri="{9D8B030D-6E8A-4147-A177-3AD203B41FA5}">
                      <a16:colId xmlns:a16="http://schemas.microsoft.com/office/drawing/2014/main" val="522293703"/>
                    </a:ext>
                  </a:extLst>
                </a:gridCol>
                <a:gridCol w="1467168">
                  <a:extLst>
                    <a:ext uri="{9D8B030D-6E8A-4147-A177-3AD203B41FA5}">
                      <a16:colId xmlns:a16="http://schemas.microsoft.com/office/drawing/2014/main" val="2008824070"/>
                    </a:ext>
                  </a:extLst>
                </a:gridCol>
                <a:gridCol w="578168">
                  <a:extLst>
                    <a:ext uri="{9D8B030D-6E8A-4147-A177-3AD203B41FA5}">
                      <a16:colId xmlns:a16="http://schemas.microsoft.com/office/drawing/2014/main" val="956442157"/>
                    </a:ext>
                  </a:extLst>
                </a:gridCol>
                <a:gridCol w="1773423">
                  <a:extLst>
                    <a:ext uri="{9D8B030D-6E8A-4147-A177-3AD203B41FA5}">
                      <a16:colId xmlns:a16="http://schemas.microsoft.com/office/drawing/2014/main" val="288285146"/>
                    </a:ext>
                  </a:extLst>
                </a:gridCol>
              </a:tblGrid>
              <a:tr h="2963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코드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지역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코드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지역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3817661"/>
                  </a:ext>
                </a:extLst>
              </a:tr>
              <a:tr h="2963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서울특별시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강원도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252107"/>
                  </a:ext>
                </a:extLst>
              </a:tr>
              <a:tr h="2963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26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부산광역시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충청북도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578191"/>
                  </a:ext>
                </a:extLst>
              </a:tr>
              <a:tr h="2963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대구광역시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44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충청남도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9001649"/>
                  </a:ext>
                </a:extLst>
              </a:tr>
              <a:tr h="2963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28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인천광역시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전라북도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212495"/>
                  </a:ext>
                </a:extLst>
              </a:tr>
              <a:tr h="2963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29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광주광역시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46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전라남도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9533142"/>
                  </a:ext>
                </a:extLst>
              </a:tr>
              <a:tr h="2963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대전광역시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경상북도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738000"/>
                  </a:ext>
                </a:extLst>
              </a:tr>
              <a:tr h="2963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울산광역시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48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경상남도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154807"/>
                  </a:ext>
                </a:extLst>
              </a:tr>
              <a:tr h="2963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36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세종특별자치시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49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제주특별자치도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785145"/>
                  </a:ext>
                </a:extLst>
              </a:tr>
              <a:tr h="2963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경기도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-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-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6396444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92F94BD-6396-6A1C-C844-EFA64477D8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825642"/>
              </p:ext>
            </p:extLst>
          </p:nvPr>
        </p:nvGraphicFramePr>
        <p:xfrm>
          <a:off x="5483508" y="1993955"/>
          <a:ext cx="2372715" cy="100584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686790">
                  <a:extLst>
                    <a:ext uri="{9D8B030D-6E8A-4147-A177-3AD203B41FA5}">
                      <a16:colId xmlns:a16="http://schemas.microsoft.com/office/drawing/2014/main" val="3120246605"/>
                    </a:ext>
                  </a:extLst>
                </a:gridCol>
                <a:gridCol w="1685925">
                  <a:extLst>
                    <a:ext uri="{9D8B030D-6E8A-4147-A177-3AD203B41FA5}">
                      <a16:colId xmlns:a16="http://schemas.microsoft.com/office/drawing/2014/main" val="984920078"/>
                    </a:ext>
                  </a:extLst>
                </a:gridCol>
              </a:tblGrid>
              <a:tr h="2963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코드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성별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538413"/>
                  </a:ext>
                </a:extLst>
              </a:tr>
              <a:tr h="2963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남자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9908658"/>
                  </a:ext>
                </a:extLst>
              </a:tr>
              <a:tr h="2963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2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여자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84135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46B36B7-A1DA-8F44-4ADF-9193BFB49BDB}"/>
              </a:ext>
            </a:extLst>
          </p:cNvPr>
          <p:cNvSpPr txBox="1"/>
          <p:nvPr/>
        </p:nvSpPr>
        <p:spPr>
          <a:xfrm>
            <a:off x="442255" y="1577849"/>
            <a:ext cx="1972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Region Code Guide</a:t>
            </a:r>
            <a:endParaRPr kumimoji="1"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3A4243-CE0C-839F-2813-2B21AEC6A4CA}"/>
              </a:ext>
            </a:extLst>
          </p:cNvPr>
          <p:cNvSpPr txBox="1"/>
          <p:nvPr/>
        </p:nvSpPr>
        <p:spPr>
          <a:xfrm>
            <a:off x="5483508" y="1577849"/>
            <a:ext cx="1647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Sex Code Guide</a:t>
            </a:r>
            <a:endParaRPr kumimoji="1"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B16551-4311-A579-B04B-A64A11CF456F}"/>
              </a:ext>
            </a:extLst>
          </p:cNvPr>
          <p:cNvSpPr txBox="1"/>
          <p:nvPr/>
        </p:nvSpPr>
        <p:spPr>
          <a:xfrm>
            <a:off x="5506569" y="3299780"/>
            <a:ext cx="1885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latin typeface="Baskerville" panose="02020502070401020303" pitchFamily="18" charset="0"/>
                <a:ea typeface="Baskerville" panose="02020502070401020303" pitchFamily="18" charset="0"/>
              </a:rPr>
              <a:t>Illness</a:t>
            </a:r>
            <a:r>
              <a:rPr kumimoji="1" lang="en-US" altLang="ko-KR" dirty="0"/>
              <a:t> Code Guide</a:t>
            </a:r>
            <a:endParaRPr kumimoji="1" lang="ko-KR" altLang="en-US" dirty="0"/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734E45C4-27E2-636A-7715-699701F89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616355"/>
              </p:ext>
            </p:extLst>
          </p:nvPr>
        </p:nvGraphicFramePr>
        <p:xfrm>
          <a:off x="5506570" y="3676375"/>
          <a:ext cx="2349654" cy="91440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2349654">
                  <a:extLst>
                    <a:ext uri="{9D8B030D-6E8A-4147-A177-3AD203B41FA5}">
                      <a16:colId xmlns:a16="http://schemas.microsoft.com/office/drawing/2014/main" val="1759380560"/>
                    </a:ext>
                  </a:extLst>
                </a:gridCol>
              </a:tblGrid>
              <a:tr h="2963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Site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630469"/>
                  </a:ext>
                </a:extLst>
              </a:tr>
              <a:tr h="296379"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1600" dirty="0">
                          <a:hlinkClick r:id="rId3"/>
                        </a:rPr>
                        <a:t>https://</a:t>
                      </a:r>
                      <a:r>
                        <a:rPr lang="en" altLang="ko-KR" sz="1600" dirty="0" err="1">
                          <a:hlinkClick r:id="rId3"/>
                        </a:rPr>
                        <a:t>www.koicd.kr</a:t>
                      </a:r>
                      <a:r>
                        <a:rPr lang="en" altLang="ko-KR" sz="1600" dirty="0">
                          <a:hlinkClick r:id="rId3"/>
                        </a:rPr>
                        <a:t>/</a:t>
                      </a:r>
                      <a:r>
                        <a:rPr lang="en" altLang="ko-KR" sz="1600" dirty="0" err="1">
                          <a:hlinkClick r:id="rId3"/>
                        </a:rPr>
                        <a:t>kcd</a:t>
                      </a:r>
                      <a:r>
                        <a:rPr lang="en" altLang="ko-KR" sz="1600" dirty="0">
                          <a:hlinkClick r:id="rId3"/>
                        </a:rPr>
                        <a:t>/</a:t>
                      </a:r>
                      <a:r>
                        <a:rPr lang="en" altLang="ko-KR" sz="1600" dirty="0" err="1">
                          <a:hlinkClick r:id="rId3"/>
                        </a:rPr>
                        <a:t>kcd.do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003364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38E4643-5F34-834A-8920-976E71C9BE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475401"/>
              </p:ext>
            </p:extLst>
          </p:nvPr>
        </p:nvGraphicFramePr>
        <p:xfrm>
          <a:off x="8761793" y="1993955"/>
          <a:ext cx="2820098" cy="304800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578168">
                  <a:extLst>
                    <a:ext uri="{9D8B030D-6E8A-4147-A177-3AD203B41FA5}">
                      <a16:colId xmlns:a16="http://schemas.microsoft.com/office/drawing/2014/main" val="522293703"/>
                    </a:ext>
                  </a:extLst>
                </a:gridCol>
                <a:gridCol w="752793">
                  <a:extLst>
                    <a:ext uri="{9D8B030D-6E8A-4147-A177-3AD203B41FA5}">
                      <a16:colId xmlns:a16="http://schemas.microsoft.com/office/drawing/2014/main" val="2008824070"/>
                    </a:ext>
                  </a:extLst>
                </a:gridCol>
                <a:gridCol w="578168">
                  <a:extLst>
                    <a:ext uri="{9D8B030D-6E8A-4147-A177-3AD203B41FA5}">
                      <a16:colId xmlns:a16="http://schemas.microsoft.com/office/drawing/2014/main" val="956442157"/>
                    </a:ext>
                  </a:extLst>
                </a:gridCol>
                <a:gridCol w="910969">
                  <a:extLst>
                    <a:ext uri="{9D8B030D-6E8A-4147-A177-3AD203B41FA5}">
                      <a16:colId xmlns:a16="http://schemas.microsoft.com/office/drawing/2014/main" val="288285146"/>
                    </a:ext>
                  </a:extLst>
                </a:gridCol>
              </a:tblGrid>
              <a:tr h="2963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코드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나이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코드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나이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3817661"/>
                  </a:ext>
                </a:extLst>
              </a:tr>
              <a:tr h="2963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0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~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45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~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49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252107"/>
                  </a:ext>
                </a:extLst>
              </a:tr>
              <a:tr h="2963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5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~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9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50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~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54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578191"/>
                  </a:ext>
                </a:extLst>
              </a:tr>
              <a:tr h="2963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10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~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14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55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~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59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9001649"/>
                  </a:ext>
                </a:extLst>
              </a:tr>
              <a:tr h="2963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15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~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19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60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~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64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212495"/>
                  </a:ext>
                </a:extLst>
              </a:tr>
              <a:tr h="2963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20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~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24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14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65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~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69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9533142"/>
                  </a:ext>
                </a:extLst>
              </a:tr>
              <a:tr h="2963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25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~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29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70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~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74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738000"/>
                  </a:ext>
                </a:extLst>
              </a:tr>
              <a:tr h="2963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30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~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34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16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75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~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79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154807"/>
                  </a:ext>
                </a:extLst>
              </a:tr>
              <a:tr h="2963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8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35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~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39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80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~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84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538132"/>
                  </a:ext>
                </a:extLst>
              </a:tr>
              <a:tr h="2963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9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40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~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44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18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85+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283282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3503F61-1760-053C-7E65-58F3BB809D48}"/>
              </a:ext>
            </a:extLst>
          </p:cNvPr>
          <p:cNvSpPr txBox="1"/>
          <p:nvPr/>
        </p:nvSpPr>
        <p:spPr>
          <a:xfrm>
            <a:off x="8761791" y="1577849"/>
            <a:ext cx="1150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Age Guide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4169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52734-58C3-7185-7C56-51CDBF860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78D8244A-4DC5-EF73-DEEB-EAFAECDF86B3}"/>
              </a:ext>
            </a:extLst>
          </p:cNvPr>
          <p:cNvSpPr/>
          <p:nvPr/>
        </p:nvSpPr>
        <p:spPr>
          <a:xfrm>
            <a:off x="144378" y="795936"/>
            <a:ext cx="11857122" cy="5757071"/>
          </a:xfrm>
          <a:prstGeom prst="roundRect">
            <a:avLst>
              <a:gd name="adj" fmla="val 5393"/>
            </a:avLst>
          </a:prstGeom>
          <a:solidFill>
            <a:srgbClr val="F1ED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F55E7BB-A731-E446-D289-57F62CF53296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AFCE39F-3999-53CA-91F9-49F404504096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/>
                <a:cs typeface="+mn-cs"/>
              </a:rPr>
              <a:t>Part 1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3B0B39-B1CC-0F38-555A-A504B69E8A93}"/>
              </a:ext>
            </a:extLst>
          </p:cNvPr>
          <p:cNvSpPr txBox="1"/>
          <p:nvPr/>
        </p:nvSpPr>
        <p:spPr>
          <a:xfrm>
            <a:off x="1163051" y="272716"/>
            <a:ext cx="54377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/>
              <a:t>Region Data </a:t>
            </a:r>
            <a:endParaRPr kumimoji="0" lang="ko-KR" altLang="en-US" sz="2800" b="1" i="0" u="none" strike="noStrike" kern="1200" cap="none" spc="-1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364BAC3-9838-6988-EF65-00F8C5FCBF48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rgbClr val="FFA5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D0715815-AB30-3DC5-0944-15AAF3859E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87475"/>
              </p:ext>
            </p:extLst>
          </p:nvPr>
        </p:nvGraphicFramePr>
        <p:xfrm>
          <a:off x="482163" y="1977744"/>
          <a:ext cx="11234342" cy="393192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651318">
                  <a:extLst>
                    <a:ext uri="{9D8B030D-6E8A-4147-A177-3AD203B41FA5}">
                      <a16:colId xmlns:a16="http://schemas.microsoft.com/office/drawing/2014/main" val="522293703"/>
                    </a:ext>
                  </a:extLst>
                </a:gridCol>
                <a:gridCol w="3453411">
                  <a:extLst>
                    <a:ext uri="{9D8B030D-6E8A-4147-A177-3AD203B41FA5}">
                      <a16:colId xmlns:a16="http://schemas.microsoft.com/office/drawing/2014/main" val="2008824070"/>
                    </a:ext>
                  </a:extLst>
                </a:gridCol>
                <a:gridCol w="1651318">
                  <a:extLst>
                    <a:ext uri="{9D8B030D-6E8A-4147-A177-3AD203B41FA5}">
                      <a16:colId xmlns:a16="http://schemas.microsoft.com/office/drawing/2014/main" val="956442157"/>
                    </a:ext>
                  </a:extLst>
                </a:gridCol>
                <a:gridCol w="4478295">
                  <a:extLst>
                    <a:ext uri="{9D8B030D-6E8A-4147-A177-3AD203B41FA5}">
                      <a16:colId xmlns:a16="http://schemas.microsoft.com/office/drawing/2014/main" val="288285146"/>
                    </a:ext>
                  </a:extLst>
                </a:gridCol>
              </a:tblGrid>
              <a:tr h="2963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지역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측정소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지역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측정소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3817661"/>
                  </a:ext>
                </a:extLst>
              </a:tr>
              <a:tr h="2963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서울특별시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['</a:t>
                      </a:r>
                      <a:r>
                        <a:rPr lang="ko-KR" altLang="en-US" sz="1400" dirty="0"/>
                        <a:t>서울</a:t>
                      </a:r>
                      <a:r>
                        <a:rPr lang="en-US" altLang="ko-KR" sz="1400" dirty="0"/>
                        <a:t>']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충청북도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['</a:t>
                      </a:r>
                      <a:r>
                        <a:rPr lang="ko-KR" altLang="en-US" sz="1400" dirty="0"/>
                        <a:t>충주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청주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 err="1"/>
                        <a:t>서청주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보은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제천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추풍령</a:t>
                      </a:r>
                      <a:r>
                        <a:rPr lang="en-US" altLang="ko-KR" sz="1400" dirty="0"/>
                        <a:t>']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252107"/>
                  </a:ext>
                </a:extLst>
              </a:tr>
              <a:tr h="2963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부산광역시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['</a:t>
                      </a:r>
                      <a:r>
                        <a:rPr lang="ko-KR" altLang="en-US" sz="1400" dirty="0"/>
                        <a:t>부산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 err="1"/>
                        <a:t>북부산</a:t>
                      </a:r>
                      <a:r>
                        <a:rPr lang="en-US" altLang="ko-KR" sz="1400" dirty="0"/>
                        <a:t>'],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충청남도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['</a:t>
                      </a:r>
                      <a:r>
                        <a:rPr lang="ko-KR" altLang="en-US" sz="1400" dirty="0"/>
                        <a:t>서산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천안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보령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부여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금산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홍성</a:t>
                      </a:r>
                      <a:r>
                        <a:rPr lang="en-US" altLang="ko-KR" sz="1400" dirty="0"/>
                        <a:t>']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578191"/>
                  </a:ext>
                </a:extLst>
              </a:tr>
              <a:tr h="2963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대구광역시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ko-KR" sz="1400" dirty="0"/>
                        <a:t>['</a:t>
                      </a:r>
                      <a:r>
                        <a:rPr kumimoji="1" lang="ko-KR" altLang="en-US" sz="1400" dirty="0"/>
                        <a:t>대구</a:t>
                      </a:r>
                      <a:r>
                        <a:rPr kumimoji="1" lang="en-US" altLang="ko-KR" sz="1400" dirty="0"/>
                        <a:t>'],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전라북도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['</a:t>
                      </a:r>
                      <a:r>
                        <a:rPr lang="ko-KR" altLang="en-US" sz="1400" dirty="0"/>
                        <a:t>전주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군산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부안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임실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정읍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남원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장수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고창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고창군</a:t>
                      </a:r>
                      <a:r>
                        <a:rPr lang="en-US" altLang="ko-KR" sz="1400" dirty="0"/>
                        <a:t>'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9001649"/>
                  </a:ext>
                </a:extLst>
              </a:tr>
              <a:tr h="2963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인천광역시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1400" dirty="0"/>
                        <a:t>['</a:t>
                      </a:r>
                      <a:r>
                        <a:rPr kumimoji="1" lang="ko-KR" altLang="en-US" sz="1400" dirty="0"/>
                        <a:t>인천</a:t>
                      </a:r>
                      <a:r>
                        <a:rPr kumimoji="1" lang="en-US" altLang="ko-KR" sz="1400" dirty="0"/>
                        <a:t>', '</a:t>
                      </a:r>
                      <a:r>
                        <a:rPr kumimoji="1" lang="ko-KR" altLang="en-US" sz="1400" dirty="0"/>
                        <a:t>강화</a:t>
                      </a:r>
                      <a:r>
                        <a:rPr kumimoji="1" lang="en-US" altLang="ko-KR" sz="1400" dirty="0"/>
                        <a:t>', '</a:t>
                      </a:r>
                      <a:r>
                        <a:rPr kumimoji="1" lang="ko-KR" altLang="en-US" sz="1400" dirty="0"/>
                        <a:t>백령도</a:t>
                      </a:r>
                      <a:r>
                        <a:rPr kumimoji="1" lang="en-US" altLang="ko-KR" sz="1400" dirty="0"/>
                        <a:t>']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전라남도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['</a:t>
                      </a:r>
                      <a:r>
                        <a:rPr lang="ko-KR" altLang="en-US" sz="1400" dirty="0"/>
                        <a:t>목포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여수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완도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순천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보성군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강진군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장흥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해남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고흥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진도군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흑산도</a:t>
                      </a:r>
                      <a:r>
                        <a:rPr lang="en-US" altLang="ko-KR" sz="1400" dirty="0"/>
                        <a:t>']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212495"/>
                  </a:ext>
                </a:extLst>
              </a:tr>
              <a:tr h="2963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광주광역시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['</a:t>
                      </a:r>
                      <a:r>
                        <a:rPr lang="ko-KR" altLang="en-US" sz="1400" dirty="0"/>
                        <a:t>광주</a:t>
                      </a:r>
                      <a:r>
                        <a:rPr lang="en-US" altLang="ko-KR" sz="1400" dirty="0"/>
                        <a:t>']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경상북도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['</a:t>
                      </a:r>
                      <a:r>
                        <a:rPr lang="ko-KR" altLang="en-US" sz="1400" dirty="0"/>
                        <a:t>울진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안동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상주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포항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봉화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영주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문경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청송군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영덕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의성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구미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영천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울릉도</a:t>
                      </a:r>
                      <a:r>
                        <a:rPr lang="en-US" altLang="ko-KR" sz="1400" dirty="0"/>
                        <a:t>']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9533142"/>
                  </a:ext>
                </a:extLst>
              </a:tr>
              <a:tr h="2963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대전광역시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1400" dirty="0"/>
                        <a:t>['</a:t>
                      </a:r>
                      <a:r>
                        <a:rPr kumimoji="1" lang="ko-KR" altLang="en-US" sz="1400" dirty="0"/>
                        <a:t>대전</a:t>
                      </a:r>
                      <a:r>
                        <a:rPr kumimoji="1" lang="en-US" altLang="ko-KR" sz="1400" dirty="0"/>
                        <a:t>'],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경상남도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['</a:t>
                      </a:r>
                      <a:r>
                        <a:rPr lang="ko-KR" altLang="en-US" sz="1400" dirty="0"/>
                        <a:t>창원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진주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김해시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양산시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의령군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함양군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거창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합천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밀양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산청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거제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남해</a:t>
                      </a:r>
                      <a:r>
                        <a:rPr lang="en-US" altLang="ko-KR" sz="1400" dirty="0"/>
                        <a:t>']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738000"/>
                  </a:ext>
                </a:extLst>
              </a:tr>
              <a:tr h="2963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울산광역시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1400" dirty="0"/>
                        <a:t>['</a:t>
                      </a:r>
                      <a:r>
                        <a:rPr kumimoji="1" lang="ko-KR" altLang="en-US" sz="1400" dirty="0"/>
                        <a:t>울산</a:t>
                      </a:r>
                      <a:r>
                        <a:rPr kumimoji="1" lang="en-US" altLang="ko-KR" sz="1400" dirty="0"/>
                        <a:t>’]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제주특별자치도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['</a:t>
                      </a:r>
                      <a:r>
                        <a:rPr lang="ko-KR" altLang="en-US" sz="1400" dirty="0"/>
                        <a:t>제주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고산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성산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서귀포</a:t>
                      </a:r>
                      <a:r>
                        <a:rPr lang="en-US" altLang="ko-KR" sz="1400" dirty="0"/>
                        <a:t>']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154807"/>
                  </a:ext>
                </a:extLst>
              </a:tr>
              <a:tr h="2963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세종특별자치시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['</a:t>
                      </a:r>
                      <a:r>
                        <a:rPr lang="ko-KR" altLang="en-US" sz="1400" dirty="0"/>
                        <a:t>세종</a:t>
                      </a:r>
                      <a:r>
                        <a:rPr lang="en-US" altLang="ko-KR" sz="1400" dirty="0"/>
                        <a:t>']</a:t>
                      </a:r>
                      <a:endParaRPr lang="ko-KR" altLang="en-US" sz="14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강원도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['</a:t>
                      </a:r>
                      <a:r>
                        <a:rPr lang="ko-KR" altLang="en-US" sz="1400" dirty="0"/>
                        <a:t>속초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 err="1"/>
                        <a:t>북춘천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철원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대관령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춘천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 err="1"/>
                        <a:t>북강릉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강릉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동해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원주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영월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태백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정선군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인제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홍천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제천</a:t>
                      </a:r>
                      <a:r>
                        <a:rPr lang="en-US" altLang="ko-KR" sz="1400" dirty="0"/>
                        <a:t>']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785145"/>
                  </a:ext>
                </a:extLst>
              </a:tr>
              <a:tr h="2963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경기도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['</a:t>
                      </a:r>
                      <a:r>
                        <a:rPr lang="ko-KR" altLang="en-US" sz="1400" dirty="0"/>
                        <a:t>동두천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파주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수원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양평</a:t>
                      </a:r>
                      <a:r>
                        <a:rPr lang="en-US" altLang="ko-KR" sz="1400" dirty="0"/>
                        <a:t>', '</a:t>
                      </a:r>
                      <a:r>
                        <a:rPr lang="ko-KR" altLang="en-US" sz="1400" dirty="0"/>
                        <a:t>이천</a:t>
                      </a:r>
                      <a:r>
                        <a:rPr lang="en-US" altLang="ko-KR" sz="1400" dirty="0"/>
                        <a:t>']</a:t>
                      </a:r>
                      <a:endParaRPr lang="ko-KR" altLang="en-US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639644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F4EB1F9-AC53-A8C8-40A2-4C0A5A182BAF}"/>
              </a:ext>
            </a:extLst>
          </p:cNvPr>
          <p:cNvSpPr txBox="1"/>
          <p:nvPr/>
        </p:nvSpPr>
        <p:spPr>
          <a:xfrm>
            <a:off x="442255" y="1577849"/>
            <a:ext cx="1291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 err="1"/>
              <a:t>Region_dict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2607081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_008_10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24D60"/>
      </a:accent1>
      <a:accent2>
        <a:srgbClr val="006182"/>
      </a:accent2>
      <a:accent3>
        <a:srgbClr val="4E849C"/>
      </a:accent3>
      <a:accent4>
        <a:srgbClr val="DCDBD9"/>
      </a:accent4>
      <a:accent5>
        <a:srgbClr val="3B626E"/>
      </a:accent5>
      <a:accent6>
        <a:srgbClr val="27383E"/>
      </a:accent6>
      <a:hlink>
        <a:srgbClr val="3F3F3F"/>
      </a:hlink>
      <a:folHlink>
        <a:srgbClr val="3F3F3F"/>
      </a:folHlink>
    </a:clrScheme>
    <a:fontScheme name="Pretendard_Black_standard">
      <a:majorFont>
        <a:latin typeface="Pretendard Black"/>
        <a:ea typeface="Pretendard Black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470</Words>
  <Application>Microsoft Macintosh PowerPoint</Application>
  <PresentationFormat>와이드스크린</PresentationFormat>
  <Paragraphs>138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맑은 고딕</vt:lpstr>
      <vt:lpstr>Pretendard</vt:lpstr>
      <vt:lpstr>Pretendard Black</vt:lpstr>
      <vt:lpstr>Arial</vt:lpstr>
      <vt:lpstr>Baskerville</vt:lpstr>
      <vt:lpstr>1_Office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정대원</dc:creator>
  <cp:lastModifiedBy>정대원</cp:lastModifiedBy>
  <cp:revision>2</cp:revision>
  <dcterms:created xsi:type="dcterms:W3CDTF">2025-04-10T05:21:24Z</dcterms:created>
  <dcterms:modified xsi:type="dcterms:W3CDTF">2025-04-10T06:23:31Z</dcterms:modified>
</cp:coreProperties>
</file>